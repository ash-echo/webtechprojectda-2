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  <p:embeddedFont>
      <p:font typeface="Playfair Display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Code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layfairDisplaySemiBold-regular.fntdata"/><Relationship Id="rId27" Type="http://schemas.openxmlformats.org/officeDocument/2006/relationships/font" Target="fonts/FiraCod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SemiBold-boldItalic.fntdata"/><Relationship Id="rId30" Type="http://schemas.openxmlformats.org/officeDocument/2006/relationships/font" Target="fonts/PlayfairDisplay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31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1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11" Type="http://schemas.openxmlformats.org/officeDocument/2006/relationships/image" Target="../media/image35.png"/><Relationship Id="rId10" Type="http://schemas.openxmlformats.org/officeDocument/2006/relationships/image" Target="../media/image43.png"/><Relationship Id="rId12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7437" y="1717327"/>
            <a:ext cx="7477125" cy="34231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580560" y="2107852"/>
            <a:ext cx="70308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CineFlow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47962" y="3212752"/>
            <a:ext cx="6696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Cinematic Discovery &amp; Digital Premiere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747962" y="3959423"/>
            <a:ext cx="669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 premium web application bridging theatrical booking and digital rentals.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747962" y="4549973"/>
            <a:ext cx="6696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Fira Code"/>
                <a:ea typeface="Fira Code"/>
                <a:cs typeface="Fira Code"/>
                <a:sym typeface="Fira Code"/>
              </a:rPr>
              <a:t>Ashwath P (24MIS1104) | Hemanth S (24MIS1071)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2863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145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240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247775" y="19526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Cluttered Ecosystem: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Traditional movie booking sites are often visually chaotic and outdated.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47775" y="30956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Missing Link: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There is a distinct lack of a unified "Digital Premiere" alternative for premium home viewing.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47775" y="4238625"/>
            <a:ext cx="4219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The Vision: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 seamless, glassmorphic web app that merges the excitement of theater booking with the convenience of digital rentals.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1971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3114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4257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Entertainment Gap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2863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145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240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247775" y="1952625"/>
            <a:ext cx="4219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Vanilla CSS (Flexbox/Grid, Glassmorphism, Red/Black/Surface palette) and ES6 JS (Real-time updates, Local Storage, Trailer Modals).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247775" y="34004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PHP 8.x with an MVC-inspired logic structure (, , ). PDO for secure database interactions.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47775" y="45434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MySQL relational schema hosted via XAMPP. Prepared statements to prevent SQL Injection.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1971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34194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9800" y="3743325"/>
            <a:ext cx="990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14700" y="3743325"/>
            <a:ext cx="5143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43350" y="3743325"/>
            <a:ext cx="704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962025" y="45624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Under the Hood: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28637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193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288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247775" y="17907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Secure Auth: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Industry-standard password hashing using PHP's 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247775" y="2628900"/>
            <a:ext cx="4219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SMTP OTP System: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Powered by Brevo/Gmail via . A 6-digit OTP is required for account verification and secure login.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247775" y="4076700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Recovery Flow: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Full tokenized "Forgot Password" sequence to strictly validate user identity before granting access.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47775" y="52197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Workflow: Request ➔ Token Gen ➔ SMTP Dispatch ➔ Verification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62025" y="18097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1350" y="2133600"/>
            <a:ext cx="15621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62025" y="26479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2100" y="2971800"/>
            <a:ext cx="15621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962025" y="40957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62025" y="52387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✦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409575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Fortified Access Control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5200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Intelligent Search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5525" y="0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57250" y="1752600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Global Search: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Deep catalog discovery utilizing operators.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2590800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Smart Context: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Automatic query mapping dynamically adjusts filters (e.g., enforcing when browsing the rentals page).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403860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Unified Logic: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Multi-criteria filtering (Genre, Format, Search Term) handled efficiently through a single, robust PHP method.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17716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095500"/>
            <a:ext cx="19431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26098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238500"/>
            <a:ext cx="15621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40576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2175" y="4686300"/>
            <a:ext cx="14668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286375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145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240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247775" y="19526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Dynamic Showtimes: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Showtime schedules and theater availability are pulled dynamically from the backend table.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247775" y="3095625"/>
            <a:ext cx="4219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Simulation Logic: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Utilizes a deterministic seed () to statically simulate 30-70% capacity, automatically generating authentic "Fast Filling" urgency badges.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247775" y="45434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Constraint Engine: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Booking logic rigorously prevents users from selecting algorithmically reserved seats.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62025" y="1971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4650" y="2600325"/>
            <a:ext cx="609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962025" y="31146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4450" y="3438525"/>
            <a:ext cx="1752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962025" y="4562475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Deterministic Occupancy Simulation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35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193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288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247775" y="1638300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Digital Ownership: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A premium secondary marketplace for digital rentals at a ₹199 price point.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247775" y="2781300"/>
            <a:ext cx="4219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Data Tracking: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The table meticulously monitors purchase timestamps and enforces a strict 48-hour expiration window.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247775" y="4229100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Access Control: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Gateway validation ensures only active, paid renters can initiate the media player via 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247775" y="53721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Streamlined simulated checkout with instant entitlement validation.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62025" y="16573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62025" y="28003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8950" y="2819400"/>
            <a:ext cx="1371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62025" y="42481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81225" y="4876800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962025" y="53911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✦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257175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CineFlow Premiere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5200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High-Fidelity Playback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5525" y="0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857250" y="175260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The Cinema Player ():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HTML5 video player meticulously optimized for high-bitrate .mp4 streaming and buffering.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57250" y="289560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Dynamic Mapping: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PHP securely routes Movie IDs to protected, non-public video assets (e.g., ID 6 ➔ ).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57250" y="403860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Interactivity: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 Immersive custom UI overlays for play/pause mechanics and integrated keyboard shortcut support (Spacebar integration).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17716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29146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543300"/>
            <a:ext cx="1085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40576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95575" y="1790700"/>
            <a:ext cx="9906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5286375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1930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288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247775" y="17145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Profiles, hashed passwords, verification.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247775" y="25527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Central catalog (Title, Trailers, Price).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247775" y="33909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Links movies to theaters, dates, times.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247775" y="422910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Venue details and seat layouts.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247775" y="4762500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Theatrical ticket transactions.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247775" y="5295900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: Digital purchases and expiration.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62025" y="17335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7775" y="1752600"/>
            <a:ext cx="609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962025" y="25717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7775" y="2590800"/>
            <a:ext cx="704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962025" y="34099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47775" y="3429000"/>
            <a:ext cx="609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962025" y="42481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7775" y="4267200"/>
            <a:ext cx="89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962025" y="47815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33" name="Google Shape;23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47775" y="4800600"/>
            <a:ext cx="89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962025" y="5314950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47775" y="5334000"/>
            <a:ext cx="1371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71500" y="333375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Data Ecosystem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7512" y="4795837"/>
            <a:ext cx="62769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6987" y="1138237"/>
            <a:ext cx="7058025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2800588" y="1528762"/>
            <a:ext cx="6590823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D4AF3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Ready for Scale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3352800" y="2624137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Database structured and indexed for high-volume transactions.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3352800" y="3157537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Minimalist CSS/JS ensures lightning-fast load times globally.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3352800" y="3690937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Built with modern web security and premium UX at its core.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3067050" y="264318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067050" y="317658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3067050" y="3709987"/>
            <a:ext cx="133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/>
          <p:nvPr/>
        </p:nvSpPr>
        <p:spPr>
          <a:xfrm>
            <a:off x="571500" y="147577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71500" y="226055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71500" y="304532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71500" y="40281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71500" y="481295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71500" y="2251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2251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30357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71500" y="30357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40186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571500" y="40186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48034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71500" y="48034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71500" y="55881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55881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52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666875" y="161865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https://cdn.dribbble.com/userupload/15813489/file/original-9784c3910b8ae034233dc1730426afbd.jpeg?resize=400x0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666875" y="18643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descr="image.png" id="274" name="Google Shape;27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099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1666875" y="240342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https://bloggerpilot.com/wp-content/uploads/2023/10/wpcodebox.png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666875" y="26491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bloggerpilot.com</a:t>
            </a:r>
            <a:endParaRPr/>
          </a:p>
        </p:txBody>
      </p:sp>
      <p:pic>
        <p:nvPicPr>
          <p:cNvPr descr="image.png" id="277" name="Google Shape;27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938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1666875" y="318819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https://static.vecteezy.com/system/resources/previews/021/521/771/non_2x/digital-padlock-with-virtual-screen-on-dark-background-cyber-security-technology-for-fraud-prevention-and-privacy-data-network-protection-concept-vector.jpg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666875" y="36320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80" name="Google Shape;28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76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1666875" y="41710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https://en.pimg.jp/097/488/717/1/97488717.jpg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666875" y="44167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tw.pixtastock.com</a:t>
            </a:r>
            <a:endParaRPr/>
          </a:p>
        </p:txBody>
      </p:sp>
      <p:pic>
        <p:nvPicPr>
          <p:cNvPr descr="image.png" id="283" name="Google Shape;28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623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1666875" y="495582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https://www.codewithfaraz.com/img/Build%20Your%20Own%20Movie%20Theater%20Booking%20App%20HTML,%20CSS,%20JavaScript%20Guide.webp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666875" y="52015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www.codewithfaraz.com</a:t>
            </a:r>
            <a:endParaRPr/>
          </a:p>
        </p:txBody>
      </p:sp>
      <p:pic>
        <p:nvPicPr>
          <p:cNvPr descr="image.png" id="286" name="Google Shape;28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471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1666875" y="57405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https://cdn.dribbble.com/userupload/17262871/file/original-419c7be813eebf37fcde509d1c70e166.png?resize=400x0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666875" y="59863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571500" y="485179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/>
          <p:nvPr/>
        </p:nvSpPr>
        <p:spPr>
          <a:xfrm>
            <a:off x="571500" y="15621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71500" y="23373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571500" y="23373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15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1666875" y="17049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https://cdn.dribbble.com/userupload/47063495/file/196a3b5d4f3ef912a0a50af62a9735db.jpg?format=webp&amp;resize=400x300&amp;vertical=center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666875" y="19506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descr="image.png" id="301" name="Google Shape;3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954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1666875" y="248974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https://images.ctfassets.net/w6r2i5d8q73s/QDa5oq16N1ifmlWC6Dnu2/a52db5fdedc3e933c865bbd3575e903b/technical_diagramming_01_database_diagram_product_image_EN_standard_4_3_2x.png?fm=webp&amp;q=75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666875" y="29335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miro.com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